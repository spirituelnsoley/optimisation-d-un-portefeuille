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8622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mot-clé : indépendance des risques. Transition naturelle vers la corrélation (module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différence entre risque = danger (sens courant) et risque = incertitude (sens financier).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 expliquer que np.random.normal génère des rendements journaliers. Le cumprod() reconstitue le prix à partir des rendements composés.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que le portefeuille (trait noir plein) est plus lisse que chaque actif. Insister sur le graphique de droite : vol portefeuille &lt; vol de chaque actif individuel.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à poser à l'audience : De combien le risque diminue-t-il exactement ? Existe-t-il des poids mieux que 1/3 ? → Annonce des modules suivants.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411480" y="365760"/>
            <a:ext cx="2286000" cy="329184"/>
          </a:xfrm>
          <a:prstGeom prst="roundRect">
            <a:avLst>
              <a:gd name="adj" fmla="val 22222"/>
            </a:avLst>
          </a:prstGeom>
          <a:solidFill>
            <a:srgbClr val="0D7A5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</a:rPr>
              <a:t>NIVEAU DÉBUTANT · BLOC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164592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ne pas mettre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tous ses œufs dans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même panier 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7280"/>
                </a:solidFill>
              </a:rPr>
              <a:t>SÉRIE · OPTIMISATION DE PORTEFEUILLE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06640" y="274320"/>
            <a:ext cx="2011680" cy="2011680"/>
          </a:xfrm>
          <a:prstGeom prst="ellipse">
            <a:avLst/>
          </a:prstGeom>
          <a:solidFill>
            <a:srgbClr val="1D9E75">
              <a:alpha val="90000"/>
            </a:srgbClr>
          </a:solidFill>
          <a:ln w="12700">
            <a:solidFill>
              <a:srgbClr val="1D9E7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7040880" y="2286000"/>
            <a:ext cx="1280160" cy="1280160"/>
          </a:xfrm>
          <a:prstGeom prst="ellipse">
            <a:avLst/>
          </a:prstGeom>
          <a:solidFill>
            <a:srgbClr val="0D7A5A">
              <a:alpha val="80000"/>
            </a:srgbClr>
          </a:solidFill>
          <a:ln w="12700">
            <a:solidFill>
              <a:srgbClr val="0D7A5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8321040" y="3200400"/>
            <a:ext cx="914400" cy="914400"/>
          </a:xfrm>
          <a:prstGeom prst="ellipse">
            <a:avLst/>
          </a:prstGeom>
          <a:solidFill>
            <a:srgbClr val="6B7280">
              <a:alpha val="70000"/>
            </a:srgbClr>
          </a:solidFill>
          <a:ln w="12700">
            <a:solidFill>
              <a:srgbClr val="6B728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</a:rPr>
              <a:t>AU PROGRAMME DE CE MODULE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vous allez apprendre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606040" cy="2286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493776" cy="49377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" y="1488643"/>
            <a:ext cx="296266" cy="2962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01168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D9E75"/>
                </a:solidFill>
              </a:rPr>
              <a:t>01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22677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L'Intuition Réelle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670048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Le panier d'œufs — pourquoi répartir réduit le risque, et ses limites.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0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3200400" y="13716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3200400" y="1691640"/>
            <a:ext cx="2606040" cy="2286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3337560" y="1389888"/>
            <a:ext cx="493776" cy="49377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6315" y="1488643"/>
            <a:ext cx="296266" cy="29626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91840" y="201168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85A30"/>
                </a:solidFill>
              </a:rPr>
              <a:t>02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291840" y="22677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Concept Financier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291840" y="2670048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Actif financier, rendement, risque, diversification — les 4 briques essentielles.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035040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7"/>
          <p:cNvSpPr/>
          <p:nvPr/>
        </p:nvSpPr>
        <p:spPr>
          <a:xfrm>
            <a:off x="6035040" y="13716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8"/>
          <p:cNvSpPr/>
          <p:nvPr/>
        </p:nvSpPr>
        <p:spPr>
          <a:xfrm>
            <a:off x="6035040" y="1691640"/>
            <a:ext cx="2606040" cy="22860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19"/>
          <p:cNvSpPr/>
          <p:nvPr/>
        </p:nvSpPr>
        <p:spPr>
          <a:xfrm>
            <a:off x="6172200" y="1389888"/>
            <a:ext cx="493776" cy="493776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0955" y="1488643"/>
            <a:ext cx="296266" cy="29626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26480" y="201168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F77DD"/>
                </a:solidFill>
              </a:rPr>
              <a:t>03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6126480" y="22677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L'Étape Python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126480" y="2670048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Simuler 3 actifs fictifs et visualiser l'effet de la diversification.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Durée estimée : 45 min · Prérequis : aucun · Outils : Python, Pandas, Matplotlib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65176"/>
            <a:ext cx="493776" cy="49377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" y="363931"/>
            <a:ext cx="296266" cy="2962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560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— L'Intuition Réelle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3840480" cy="3566160"/>
          </a:xfrm>
          <a:prstGeom prst="roundRect">
            <a:avLst>
              <a:gd name="adj" fmla="val 256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02920" y="9144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 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1234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Un seul panier · 12 œufs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280160" y="15544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🧺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50292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</a:rPr>
              <a:t>Tu trébuches…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3063240"/>
            <a:ext cx="3566160" cy="640080"/>
          </a:xfrm>
          <a:prstGeom prst="roundRect">
            <a:avLst>
              <a:gd name="adj" fmla="val 8571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02920" y="30632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 œufs cassés — PERTE TOTALE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0" y="868680"/>
            <a:ext cx="4206240" cy="3566160"/>
          </a:xfrm>
          <a:prstGeom prst="roundRect">
            <a:avLst>
              <a:gd name="adj" fmla="val 2564"/>
            </a:avLst>
          </a:prstGeom>
          <a:solidFill>
            <a:srgbClr val="E1F5EE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470916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 B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709160" y="1234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Trois paniers · 4 œufs chacun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09160" y="15544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🧺  🧺  🧺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4709160" y="2743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</a:rPr>
              <a:t>Tu trébuches, 1 panier tombe…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09160" y="306324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4709160" y="30632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8 œufs sauvés — perte limitée à ⅓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D9E75"/>
                </a:solidFill>
              </a:rPr>
              <a:t>Répartir ne supprime pas le risque de trébucher — mais il limite les dégâts.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65176"/>
            <a:ext cx="493776" cy="49377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" y="363931"/>
            <a:ext cx="296266" cy="2962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560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limite de la diversification intuitive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914400"/>
            <a:ext cx="2834640" cy="3474720"/>
          </a:xfrm>
          <a:prstGeom prst="roundRect">
            <a:avLst>
              <a:gd name="adj" fmla="val 3226"/>
            </a:avLst>
          </a:prstGeom>
          <a:solidFill>
            <a:srgbClr val="FEF2F2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74320" y="1005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🤲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65760" y="1600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Paniers superposés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201168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Tu portes les 3 paniers dans les deux mains, superposés. Si tu trébuches, tu perds les 3 d'un coup. La répartition physique ne suffit pas.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65760" y="3611880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D85A30">
              <a:alpha val="15000"/>
            </a:srgbClr>
          </a:solidFill>
          <a:ln w="1016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365760" y="3611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85A30"/>
                </a:solidFill>
              </a:rPr>
              <a:t>❌ Risques liés — pas de protection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46120" y="914400"/>
            <a:ext cx="2834640" cy="3474720"/>
          </a:xfrm>
          <a:prstGeom prst="roundRect">
            <a:avLst>
              <a:gd name="adj" fmla="val 3226"/>
            </a:avLst>
          </a:prstGeom>
          <a:solidFill>
            <a:srgbClr val="FFFBEB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3246120" y="1005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3337560" y="1600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actions françaises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83280" y="201168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Acheter 10 actions différentes du CAC 40 semble diversifié. Mais en crise, elles baissent toutes ensemble. Le secteur crée une corrélation cachée.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337560" y="3611880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D97706">
              <a:alpha val="15000"/>
            </a:srgbClr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3337560" y="3611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</a:rPr>
              <a:t>⚠️ Diversification illusoire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17920" y="914400"/>
            <a:ext cx="2834640" cy="3474720"/>
          </a:xfrm>
          <a:prstGeom prst="roundRect">
            <a:avLst>
              <a:gd name="adj" fmla="val 3226"/>
            </a:avLst>
          </a:prstGeom>
          <a:solidFill>
            <a:srgbClr val="E1F5EE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6217920" y="1005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309360" y="1600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Actifs décorrélés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55080" y="201168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Actions + obligations + or + immobilier : ces actifs réagissent différemment aux mêmes événements. C'est ça, la vraie diversification.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309360" y="3611880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15000"/>
            </a:srgbClr>
          </a:solidFill>
          <a:ln w="1016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6309360" y="3611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9E75"/>
                </a:solidFill>
              </a:rPr>
              <a:t>✅ Risques indépendants — protection réelle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</a:rPr>
              <a:t>La vraie diversification exige des actifs dont les fortunes ne sont PAS liées — c'est la corrélation (Module 4).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65176"/>
            <a:ext cx="493776" cy="49377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" y="363931"/>
            <a:ext cx="296266" cy="2962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560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— Le Concept Actuariel / Financier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91440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274320" y="1170432"/>
            <a:ext cx="4206240" cy="14630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384048" y="9144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Actif financier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13716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Titre donnant droit à des flux futurs : dividendes (actions), coupons (obligations), loyers (immobilier). Sa valeur = anticipation du marché sur ces flux.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84048" y="230428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</a:rPr>
              <a:t>Ex : une action Total, un bon du Trésor, une part de SCPI.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754880" y="1033272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4754880" y="91440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4754880" y="1170432"/>
            <a:ext cx="4206240" cy="146304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4864608" y="9144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Rendement</a:t>
            </a:r>
            <a:r>
              <a:rPr lang="en-US" sz="1200" b="1" dirty="0">
                <a:solidFill>
                  <a:srgbClr val="FFFFFF"/>
                </a:solidFill>
              </a:rPr>
              <a:t> &amp; </a:t>
            </a:r>
            <a:r>
              <a:rPr lang="en-US" sz="1200" b="1" dirty="0" err="1">
                <a:solidFill>
                  <a:srgbClr val="FFFFFF"/>
                </a:solidFill>
              </a:rPr>
              <a:t>portefeuille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74320" y="292608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274320" y="292608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274320" y="3182112"/>
            <a:ext cx="4206240" cy="146304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384048" y="29260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Risque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84048" y="33832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L'incertitude sur le rendement futur — l'amplitude des surprises, dans les deux sens. Mesuré par la volatilité (écart-type des rendements).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84048" y="431596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</a:rPr>
              <a:t>Ex : une startup est plus risquée qu'une obligation d'État.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54880" y="292608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4754880" y="292608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2"/>
          <p:cNvSpPr/>
          <p:nvPr/>
        </p:nvSpPr>
        <p:spPr>
          <a:xfrm>
            <a:off x="4754880" y="3182112"/>
            <a:ext cx="4206240" cy="14630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4864608" y="29260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Diversification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864608" y="33832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Combiner des actifs dont les rendements ne bougent pas tous ensemble. Le risque du portefeuille &lt; moyenne des risques individuels.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864608" y="431596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</a:rPr>
              <a:t>Ex : actions + obligations + or réagissent différemment à une crise.</a:t>
            </a:r>
            <a:endParaRPr lang="en-US" sz="850" dirty="0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9E979D26-CD9D-3B01-A0B1-B989AC8539F6}"/>
              </a:ext>
            </a:extLst>
          </p:cNvPr>
          <p:cNvSpPr/>
          <p:nvPr/>
        </p:nvSpPr>
        <p:spPr>
          <a:xfrm>
            <a:off x="4754881" y="1453896"/>
            <a:ext cx="4206239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  <a:defRPr sz="1300" b="1" i="0">
                <a:solidFill>
                  <a:srgbClr val="282828"/>
                </a:solidFill>
                <a:latin typeface="Arial"/>
              </a:defRPr>
            </a:pPr>
            <a:r>
              <a:rPr lang="fr-FR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Actif Unique : Ce que rapporte un investissement.</a:t>
            </a:r>
          </a:p>
          <a:p>
            <a:pPr>
              <a:spcAft>
                <a:spcPts val="800"/>
              </a:spcAft>
              <a:defRPr sz="1300" b="1" i="0">
                <a:solidFill>
                  <a:srgbClr val="282828"/>
                </a:solidFill>
                <a:latin typeface="Arial"/>
              </a:defRPr>
            </a:pPr>
            <a:r>
              <a:rPr lang="fr-FR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Formule : r = (Pₜ − Pₜ₋₁) / Pₜ₋₁</a:t>
            </a:r>
          </a:p>
          <a:p>
            <a:pPr>
              <a:spcAft>
                <a:spcPts val="800"/>
              </a:spcAft>
              <a:defRPr sz="1200" b="0" i="1">
                <a:solidFill>
                  <a:srgbClr val="282828"/>
                </a:solidFill>
                <a:latin typeface="Arial"/>
              </a:defRPr>
            </a:pPr>
            <a:r>
              <a:rPr lang="fr-FR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 : Achat à 65 600 FCFA -&gt; Vente à 72 160 FCFA = +10%.</a:t>
            </a:r>
          </a:p>
          <a:p>
            <a:pPr>
              <a:spcAft>
                <a:spcPts val="800"/>
              </a:spcAft>
              <a:defRPr sz="1300" b="1" i="0">
                <a:solidFill>
                  <a:srgbClr val="282828"/>
                </a:solidFill>
                <a:latin typeface="Arial"/>
              </a:defRPr>
            </a:pPr>
            <a:r>
              <a:rPr lang="fr-FR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Construction : Répartir son capital selon des poids (w_1, w_2, ...), dont la somme fait toujours 100%.</a:t>
            </a:r>
          </a:p>
          <a:p>
            <a:pPr>
              <a:spcAft>
                <a:spcPts val="800"/>
              </a:spcAft>
              <a:defRPr sz="1300" b="1" i="0">
                <a:solidFill>
                  <a:srgbClr val="282828"/>
                </a:solidFill>
                <a:latin typeface="Arial"/>
              </a:defRPr>
            </a:pPr>
            <a:r>
              <a:rPr lang="fr-FR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Portefeuille (</a:t>
            </a:r>
            <a:r>
              <a:rPr lang="fr-FR" sz="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r_p</a:t>
            </a:r>
            <a:r>
              <a:rPr lang="fr-FR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: Moyenne pondérée des rendements.</a:t>
            </a:r>
          </a:p>
          <a:p>
            <a:pPr>
              <a:spcAft>
                <a:spcPts val="800"/>
              </a:spcAft>
              <a:defRPr sz="1300" b="1" i="0">
                <a:solidFill>
                  <a:srgbClr val="282828"/>
                </a:solidFill>
                <a:latin typeface="Arial"/>
              </a:defRPr>
            </a:pPr>
            <a:r>
              <a:rPr lang="fr-FR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Formule : rₚ = w₁ × r₁ + w₂ × r₂ + … + wₙ × rₙ</a:t>
            </a:r>
          </a:p>
          <a:p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formule du rendement simple</a:t>
            </a:r>
            <a:endParaRPr lang="en-US" sz="2600" dirty="0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000DC426-6155-DBBF-A167-0B93208CC98C}"/>
              </a:ext>
            </a:extLst>
          </p:cNvPr>
          <p:cNvGrpSpPr/>
          <p:nvPr/>
        </p:nvGrpSpPr>
        <p:grpSpPr>
          <a:xfrm>
            <a:off x="1196502" y="722376"/>
            <a:ext cx="6400800" cy="822960"/>
            <a:chOff x="1371600" y="914400"/>
            <a:chExt cx="6400800" cy="822960"/>
          </a:xfrm>
        </p:grpSpPr>
        <p:sp>
          <p:nvSpPr>
            <p:cNvPr id="3" name="Shape 1"/>
            <p:cNvSpPr/>
            <p:nvPr/>
          </p:nvSpPr>
          <p:spPr>
            <a:xfrm>
              <a:off x="1371600" y="914400"/>
              <a:ext cx="6400800" cy="822960"/>
            </a:xfrm>
            <a:prstGeom prst="roundRect">
              <a:avLst>
                <a:gd name="adj" fmla="val 6667"/>
              </a:avLst>
            </a:prstGeom>
            <a:solidFill>
              <a:srgbClr val="1A1A1A"/>
            </a:solidFill>
            <a:ln w="12700">
              <a:solidFill>
                <a:srgbClr val="1A1A1A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 2"/>
            <p:cNvSpPr/>
            <p:nvPr/>
          </p:nvSpPr>
          <p:spPr>
            <a:xfrm>
              <a:off x="1371600" y="960120"/>
              <a:ext cx="640080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FF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r  =  (P</a:t>
              </a:r>
              <a:r>
                <a:rPr lang="en-US" sz="900" b="1" dirty="0">
                  <a:solidFill>
                    <a:srgbClr val="FF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t</a:t>
              </a:r>
              <a:r>
                <a:rPr lang="en-US" sz="3000" b="1" dirty="0">
                  <a:solidFill>
                    <a:srgbClr val="FF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−  P</a:t>
              </a:r>
              <a:r>
                <a:rPr lang="en-US" sz="900" b="1" dirty="0">
                  <a:solidFill>
                    <a:srgbClr val="FF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t-1</a:t>
              </a:r>
              <a:r>
                <a:rPr lang="en-US" sz="3000" b="1" dirty="0">
                  <a:solidFill>
                    <a:srgbClr val="FF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) / P</a:t>
              </a:r>
              <a:r>
                <a:rPr lang="en-US" sz="900" b="1" dirty="0">
                  <a:solidFill>
                    <a:srgbClr val="FF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t</a:t>
              </a:r>
              <a:endParaRPr lang="en-US" sz="900" dirty="0"/>
            </a:p>
          </p:txBody>
        </p:sp>
      </p:grpSp>
      <p:sp>
        <p:nvSpPr>
          <p:cNvPr id="6" name="Shape 4"/>
          <p:cNvSpPr/>
          <p:nvPr/>
        </p:nvSpPr>
        <p:spPr>
          <a:xfrm>
            <a:off x="457200" y="25146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99008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Rendement de la période 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0" y="25146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566160" y="26060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299008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Prix en fin de période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0" y="25146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7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P_(t-1)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99008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Prix en début de période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1F5EE"/>
          </a:solidFill>
          <a:ln w="1016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Exemple : P</a:t>
            </a:r>
            <a:r>
              <a:rPr lang="en-US" sz="7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72 160 FCFA,  P</a:t>
            </a:r>
            <a:r>
              <a:rPr lang="en-US" sz="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(t-1) </a:t>
            </a: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65 600 FCFA   →   r = (72160 − 65600) / 65600 = 10 %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681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</a:rPr>
              <a:t>Nous verrons au Module 2 le rendement logarithmique, plus adapté aux longues périodes.</a:t>
            </a:r>
            <a:endParaRPr lang="en-US" sz="900" dirty="0"/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117D5DE8-E523-E42F-9E69-E851191C9F24}"/>
              </a:ext>
            </a:extLst>
          </p:cNvPr>
          <p:cNvSpPr/>
          <p:nvPr/>
        </p:nvSpPr>
        <p:spPr>
          <a:xfrm>
            <a:off x="1196502" y="1719072"/>
            <a:ext cx="6400800" cy="704088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7CC68CCD-D6B1-877F-BC07-7599DB969FB2}"/>
              </a:ext>
            </a:extLst>
          </p:cNvPr>
          <p:cNvSpPr/>
          <p:nvPr/>
        </p:nvSpPr>
        <p:spPr>
          <a:xfrm>
            <a:off x="1196502" y="17602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05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w</a:t>
            </a: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₁</a:t>
            </a: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× r</a:t>
            </a: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₁</a:t>
            </a: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w</a:t>
            </a: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₂</a:t>
            </a: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× r</a:t>
            </a: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₂</a:t>
            </a: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… + w</a:t>
            </a: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ₙ</a:t>
            </a: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× r</a:t>
            </a: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ₙ</a:t>
            </a:r>
          </a:p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65176"/>
            <a:ext cx="493776" cy="493776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" y="363931"/>
            <a:ext cx="296266" cy="2962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560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— L'Étape Python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822960"/>
            <a:ext cx="5029200" cy="4023360"/>
          </a:xfrm>
          <a:prstGeom prst="roundRect">
            <a:avLst>
              <a:gd name="adj" fmla="val 227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804672" y="886968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1078992" y="88696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1353312" y="886968"/>
            <a:ext cx="118872" cy="118872"/>
          </a:xfrm>
          <a:prstGeom prst="ellips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384048" y="1115568"/>
            <a:ext cx="4828032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np.random.seed(42)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252  # jours de trading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actifs =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"Actif A": {"mu":0.0003,"sig":0.008},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"Actif B": {"mu":0.0006,"sig":0.020},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"Actif C": {"mu":0.0002,"sig":0.015},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Simulation rendements (loi normale)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rets = pd.DataFrame({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n: np.random.normal(p['mu'],p['sig'],N)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n, p in actifs.items()})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Prix indexés à 100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 = (1 + rets).cumprod() * 100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Portefeuille diversifié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prix["Portfolio"] = prix.mean(axis=1)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32120" y="9601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9E75"/>
                </a:solidFill>
              </a:rPr>
              <a:t>🔢  Reproductibilité garantie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532120" y="1508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5A30"/>
                </a:solidFill>
              </a:rPr>
              <a:t>📅  252 jours = 1 an boursier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532120" y="21488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77DD"/>
                </a:solidFill>
              </a:rPr>
              <a:t>🎲  Loi normale : 1er modèle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77DD"/>
                </a:solidFill>
              </a:rPr>
              <a:t>    des rendements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532120" y="30632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9E75"/>
                </a:solidFill>
              </a:rPr>
              <a:t>📈  Cumulative product 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D9E75"/>
                </a:solidFill>
              </a:rPr>
              <a:t>    simulation du prix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532120" y="41605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</a:rPr>
              <a:t>⚖️  Poids égaux : 1/3 chacun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de la simulation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252 jours de trading simulés — portefeuille diversifié (trait plein) vs actifs individuels (pointillés)</a:t>
            </a:r>
            <a:endParaRPr lang="en-US" sz="950" dirty="0"/>
          </a:p>
        </p:txBody>
      </p:sp>
      <p:pic>
        <p:nvPicPr>
          <p:cNvPr id="4" name="Image 0" descr="/home/claude/chart_p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41248"/>
            <a:ext cx="8595360" cy="2743200"/>
          </a:xfrm>
          <a:prstGeom prst="rect">
            <a:avLst/>
          </a:prstGeom>
        </p:spPr>
      </p:pic>
      <p:pic>
        <p:nvPicPr>
          <p:cNvPr id="5" name="Image 1" descr="/home/claude/chart_d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675888"/>
            <a:ext cx="4206240" cy="1298448"/>
          </a:xfrm>
          <a:prstGeom prst="rect">
            <a:avLst/>
          </a:prstGeom>
        </p:spPr>
      </p:pic>
      <p:pic>
        <p:nvPicPr>
          <p:cNvPr id="6" name="Image 2" descr="/home/claude/chart_vo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675888"/>
            <a:ext cx="4206240" cy="12984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observations à retenir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502920" cy="50292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98755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Lissage de la courbe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316736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La courbe du portefeuille est visuellement plus régulière. Les pics et creux des actifs individuels s'atténuent quand on les combine.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517904"/>
            <a:ext cx="0" cy="749808"/>
          </a:xfrm>
          <a:prstGeom prst="line">
            <a:avLst/>
          </a:prstGeom>
          <a:noFill/>
          <a:ln w="19050">
            <a:solidFill>
              <a:srgbClr val="1D9E75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502920" cy="50292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31343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Volatilité réduite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642616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La volatilité du portefeuille est inférieure à celle de chaque actif pris seul — même avec des poids égaux naïfs. Ce n'est pas de la magie : c'est la corrélation imparfaite.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2843784"/>
            <a:ext cx="0" cy="749808"/>
          </a:xfrm>
          <a:prstGeom prst="line">
            <a:avLst/>
          </a:prstGeom>
          <a:noFill/>
          <a:ln w="19050">
            <a:solidFill>
              <a:srgbClr val="D85A3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502920" cy="502920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6576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363931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77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préservée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968496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La performance finale du portefeuille est proche de la moyenne des actifs, mais le chemin pour y arriver est beaucoup moins chaotique.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645152"/>
            <a:ext cx="8412480" cy="365760"/>
          </a:xfrm>
          <a:prstGeom prst="roundRect">
            <a:avLst>
              <a:gd name="adj" fmla="val 15000"/>
            </a:avLst>
          </a:prstGeom>
          <a:solidFill>
            <a:srgbClr val="E1F5EE"/>
          </a:solidFill>
          <a:ln w="1016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7200" y="4645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D9E75"/>
                </a:solidFill>
              </a:rPr>
              <a:t>"La diversification est le seul repas gratuit en finance."  — Harry Markowitz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</a:rPr>
              <a:t>RÉCAPITULATIF · MODULE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vous avez appris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74320" cy="27432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77240" y="1444752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La diversification réduit le risque — mais pas si les risques sont liés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029968"/>
            <a:ext cx="274320" cy="27432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Actif financier : titre donnant droit à des flux futurs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96896"/>
            <a:ext cx="274320" cy="27432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77240" y="2578608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Rendement : r = (P_t − P_t-1) / P_t-1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163824"/>
            <a:ext cx="274320" cy="27432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77240" y="3145536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Risque = incertitude (pas danger), mesuré par la volatilité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730752"/>
            <a:ext cx="274320" cy="27432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77240" y="3712464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En Python : numpy.random.normal + cumprod pour simuler des prix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407408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D7A5A"/>
          </a:solidFill>
          <a:ln w="12700">
            <a:solidFill>
              <a:srgbClr val="0D7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02920" y="44074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Prochain module →  Module 2 : Mesurer la performance d'un investissement — rendements et Pandas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1172</Words>
  <Application>Microsoft Office PowerPoint</Application>
  <PresentationFormat>Affichage à l'écran (16:9)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— Diversification</dc:title>
  <dc:subject>PptxGenJS Presentation</dc:subject>
  <dc:creator>Série Optimisation de Portefeuille</dc:creator>
  <cp:lastModifiedBy>Spirituel Nsoley (SanlamAllianz)</cp:lastModifiedBy>
  <cp:revision>3</cp:revision>
  <dcterms:created xsi:type="dcterms:W3CDTF">2026-06-21T22:11:41Z</dcterms:created>
  <dcterms:modified xsi:type="dcterms:W3CDTF">2026-06-28T18:27:39Z</dcterms:modified>
</cp:coreProperties>
</file>